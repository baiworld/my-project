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.png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00000"/>
            <a:ext cx="10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 Spark 大数据的用户行为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实时分析与混合推荐系统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0000" y="3300000"/>
            <a:ext cx="34000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00000"/>
            <a:ext cx="10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DD"/>
                </a:solidFill>
                <a:latin typeface="微软雅黑" panose="020B0503020204020204" charset="-122"/>
              </a:defRPr>
            </a:pPr>
            <a:r>
              <a:t>Spark-Based Real-Time User Behavior Analysis &amp; Hybrid Recommendation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00000"/>
            <a:ext cx="10400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CC"/>
                </a:solidFill>
                <a:latin typeface="微软雅黑" panose="020B0503020204020204" charset="-122"/>
              </a:defRPr>
            </a:pPr>
            <a:r>
              <a:t> | NIIT @ GUET | 2026 届 大数据方向 期末答辩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00000"/>
            <a:ext cx="10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BB"/>
                </a:solidFill>
                <a:latin typeface="微软雅黑" panose="020B0503020204020204" charset="-122"/>
              </a:defRPr>
            </a:pPr>
            <a:r>
              <a:t>覃柏豫  ·  陈小双  ·  黄胜坤  ·  陈聪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50000"/>
            <a:ext cx="10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为什么要做这个系统？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系统功能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功能全景与运行效果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五层架构与技术栈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核心算法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冷启动 · 协同过滤 · 多样性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000" y="3700000"/>
            <a:ext cx="800000" cy="800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500000" y="37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500000" y="41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3500000" y="3700000"/>
            <a:ext cx="800000" cy="800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400000" y="37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400000" y="41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00000" y="37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0000" y="37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总结展望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41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成果 · 不足 · 未来计划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0000"/>
            <a:ext cx="10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团队成员与分工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40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55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覃柏豫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5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项目组长 / 数据工程师</a:t>
            </a: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110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55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Spark Streaming 实时计算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Kafka 消息队列搭建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ALS / K-Means 算法实现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数据处理全链路设计</a:t>
            </a: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335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350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陈小双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350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后端工程师</a:t>
            </a:r>
          </a:p>
        </p:txBody>
      </p:sp>
      <p:sp>
        <p:nvSpPr>
          <p:cNvPr id="13" name="Rectangle 12"/>
          <p:cNvSpPr/>
          <p:nvPr>
            <p:custDataLst>
              <p:tags r:id="rId9"/>
            </p:custDataLst>
          </p:nvPr>
        </p:nvSpPr>
        <p:spPr>
          <a:xfrm>
            <a:off x="405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350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Flask REST API 开发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MySQL 数据库设计 (11表)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JWT 认证与权限系统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WebSocket 实时推送</a:t>
            </a:r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630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45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黄胜坤</a:t>
            </a: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645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QA + 全栈支持</a:t>
            </a:r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700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45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测试环境搭建与维护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集成测试与 Bug 追踪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项目文档编写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全栈技术支持</a:t>
            </a:r>
          </a:p>
        </p:txBody>
      </p:sp>
      <p:sp>
        <p:nvSpPr>
          <p:cNvPr id="20" name="Rounded Rectangle 19"/>
          <p:cNvSpPr/>
          <p:nvPr>
            <p:custDataLst>
              <p:tags r:id="rId16"/>
            </p:custDataLst>
          </p:nvPr>
        </p:nvSpPr>
        <p:spPr>
          <a:xfrm>
            <a:off x="925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7"/>
            </p:custDataLst>
          </p:nvPr>
        </p:nvSpPr>
        <p:spPr>
          <a:xfrm>
            <a:off x="940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陈  聪</a:t>
            </a:r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940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前端工程师 / 答辩</a:t>
            </a:r>
          </a:p>
        </p:txBody>
      </p:sp>
      <p:sp>
        <p:nvSpPr>
          <p:cNvPr id="23" name="Rectangle 22"/>
          <p:cNvSpPr/>
          <p:nvPr>
            <p:custDataLst>
              <p:tags r:id="rId19"/>
            </p:custDataLst>
          </p:nvPr>
        </p:nvSpPr>
        <p:spPr>
          <a:xfrm>
            <a:off x="995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940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Vue 3 + Vite 前端开发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ECharts 数据大屏可视化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Axios 接口对接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响应式布局适配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01  项目背景 — 为什么做这个系统？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0000"/>
            <a:ext cx="5500000" cy="52000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35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 panose="020B0503020204020204" charset="-122"/>
              </a:rPr>
              <a:t>行业背景：推荐系统的核心矛盾</a:t>
            </a:r>
            <a:endParaRPr sz="1800" b="1">
              <a:latin typeface="微软雅黑" panose="020B0503020204020204" charset="-122"/>
            </a:endParaRPr>
          </a:p>
          <a:p>
            <a:endParaRPr sz="1800"/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推荐系统是内容平台的引擎——决定了用户看到什么、听到什么。但所有推荐算法都面临一个根本矛盾：新用户没有任何行为数据，协同过滤完全失效。这个被称为「冷启动」的问题，是推荐领域公认的第一难题，直接决定了新用户的留存与流失。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更复杂的是，今天的平台往往同时承载音乐和视频两种异构内容。音乐的特征在于旋律、节奏、风格；视频的特征在于画面、剧情、类型。两者特征空间完全不同，传统推荐系统只能分开处理，无法做到跨类型的智能混排。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再加上用户兴趣的实时变化、热门内容的马太效应、推荐效果缺乏量化监控——这些痛点叠加在一起，让「冷启动混合推荐」成为一个既有学术价值又有工程挑战的课题。</a:t>
            </a:r>
            <a:endParaRPr sz="1100"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0000" y="3200000"/>
            <a:ext cx="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1200000"/>
            <a:ext cx="5500000" cy="52000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0000" y="1350000"/>
            <a:ext cx="5000000" cy="349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 panose="020B0503020204020204" charset="-122"/>
              </a:rPr>
              <a:t>项目动机：我们要验证什么</a:t>
            </a:r>
            <a:endParaRPr sz="1800" b="1">
              <a:latin typeface="微软雅黑" panose="020B0503020204020204" charset="-122"/>
            </a:endParaRPr>
          </a:p>
          <a:p>
            <a:endParaRPr sz="1800"/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我们想证明：即使没有真实的工业级数据，用模拟数据 + 开源大数据技术栈，也能搭建一套完整的冷启动混合推荐系统，实现从数据生成到前端大屏的全链路闭环。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具体来说，我们希望验证四个核心假设：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① 用 K-Means 无监督聚类为新用户快速分群，能否实现「注册即推荐、越用越精准」的冷启动过渡？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② 用 ALS 矩阵分解将用户、音乐、视频映射到统一向量空间，能否打破跨模态壁垒？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③ 用 Spark Streaming 秒级处理 + DPP 多样性重排，能否同时保证实时性和推荐丰富度？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④ 用全链路数据大屏让系统可观测、可度量，能否形成数据驱动的优化闭环？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endParaRPr sz="1100"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02  系统功能与效果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00" y="1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混合推荐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00" y="24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音乐+视频统一推荐</a:t>
            </a:r>
            <a:br/>
            <a:r>
              <a:t>音乐:视频=6:4，关键词搜索与策略筛选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7200" y="12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200" y="1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2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查询管理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200" y="24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推荐列表/内容管理/冷启动分析</a:t>
            </a:r>
            <a:br/>
            <a:r>
              <a:t>支持筛选排序与详情抽屉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7200" y="12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200" y="1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2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冷启动方案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200" y="24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新用户自动分群</a:t>
            </a:r>
            <a:br/>
            <a:r>
              <a:t>先推热门，再逐步个性化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00" y="40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00" y="45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实时计算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00" y="50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用户行为实时处理</a:t>
            </a:r>
            <a:br/>
            <a:r>
              <a:t>点击/观看秒级响应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7200" y="38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7200" y="40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7200" y="45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用户系统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7200" y="50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JWT认证 + RBAC三角色权限</a:t>
            </a:r>
            <a:br/>
            <a:r>
              <a:t>注册/登录/用户管理 + 审计日志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7200" y="38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200" y="40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200" y="45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监控大屏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200" y="50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所有推荐指标可视化</a:t>
            </a:r>
            <a:br/>
            <a:r>
              <a:t>CTR/覆盖率实时可观测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457200" y="964718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CCCC"/>
                </a:solidFill>
                <a:latin typeface="微软雅黑" panose="020B0503020204020204" charset="-122"/>
              </a:rPr>
              <a:t>三路分流推荐 + 会话数据生成 + 22字段快照 + 3Tab大屏  |  全链路闭环  |  离线推荐10000条落地</a:t>
            </a:r>
            <a:endParaRPr sz="1100">
              <a:solidFill>
                <a:srgbClr val="CCCCC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03  系统架构与技术栈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00000"/>
            <a:ext cx="10400000" cy="9000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展示层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16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Vue 3 + ECharts 5 数据大屏（3Tab+全局指标栏+暗色模式）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135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用户界面，实时展示推荐效果 | Vue 3 + Vite + Pinia +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50000"/>
            <a:ext cx="10400000" cy="90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23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273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Python Flask 3.1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240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前后端桥梁，处理业务逻辑 | Flask 3.1 + JWT + 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00000"/>
            <a:ext cx="10400000" cy="90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0000" y="34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存储层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000" y="37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MySQL 5.7 数据库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345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11张表：实时画像+离线推荐+内容+系统 | utf8mb4 | 7天自动清理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50000"/>
            <a:ext cx="10400000" cy="90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000" y="44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计算层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483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Spark 3.3.1 实时+离线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450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核心大脑：Spark Streaming 10s微批次 + SparkSQL批处理 | Scala 2.13 + MLlib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400000"/>
            <a:ext cx="10400000" cy="90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0000" y="55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消息层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000" y="58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Kafka 3.x + Flume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0" y="555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数据传输通道 | Kafka 3.x (3 Topics + DLQ) + Flume Taildir | 延迟&lt;100ms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00" y="21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00" y="315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00" y="42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000" y="525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00" y="1600000"/>
            <a:ext cx="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数</a:t>
            </a:r>
            <a:br/>
            <a:r>
              <a:t>据</a:t>
            </a:r>
            <a:br/>
            <a:r>
              <a:t>流</a:t>
            </a:r>
            <a:br/>
            <a:r>
              <a:t>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00000" y="65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AAAAAA"/>
                </a:solidFill>
                <a:latin typeface="微软雅黑" panose="020B0503020204020204" charset="-122"/>
              </a:rPr>
              <a:t>端到端数据流:  会话式Python生成器(9种序列) → Flume采集 → Kafka缓冲 → Spark消费 → MySQL存储 → Flask API(22字段快照) → Vue大屏(3Tab)</a:t>
            </a:r>
            <a:endParaRPr sz="1000">
              <a:solidFill>
                <a:srgbClr val="AAAAA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04  核心算法 — 三部曲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50000"/>
            <a:ext cx="3700000" cy="54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①  冷启动策略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1750000"/>
            <a:ext cx="33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新用户注册后，系统收集偏好标签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用 K-Means 算法把用户分到 8 个兴趣群组
结合注册设备/渠道/标签进行聚类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推送该群组热门内容 + ε-greedy探索（ε=0.15）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用户使用越多 → 推荐越精准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行为 ≤50 次：冷启动模式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行为 30~80 次：逐步过渡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行为 &gt;80 次：ALS协同过滤+内容推荐+热度加权融合，个性化推荐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0000" y="1150000"/>
            <a:ext cx="3700000" cy="54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0" y="1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②  协同过滤推荐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1750000"/>
            <a:ext cx="33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ALS 矩阵分解算法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把用户和内容映射到同一个向量空间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音乐和视频可以统一计算相似度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找到和你兴趣相似的用户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推荐他们喜欢的内容给你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核心参数：rank=50，α=40（隐式反馈）
DPP多样性重排 θ=0.7，Top100→Top50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0000" y="1150000"/>
            <a:ext cx="3700000" cy="54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000" y="1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③  多样性重排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0000" y="1750000"/>
            <a:ext cx="33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DPP行列式点过程重排_x000B_▸ 从100个候选中选取50个_x000B_▸ 同类内容自动打散_x000B_▸ score × (1 − θ × 同类相似度)_x000B_▸ θ=0.7，保证推荐既相关又多样</a:t>
            </a:r>
            <a:br/>
            <a:r>
              <a:t>▸  从 100 个候选中贪心选取 50 个</a:t>
            </a:r>
            <a:br/>
            <a:r>
              <a:t>▸  同类内容自动打散，避免推荐列表扎堆</a:t>
            </a:r>
            <a:br/>
            <a:r>
              <a:t>▸  平衡公式: score × (1 − θ × 同类相似度)</a:t>
            </a:r>
            <a:br/>
            <a:r>
              <a:t>▸  θ=0.7 控制多样性强度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05  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50000"/>
            <a:ext cx="5500000" cy="54000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3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1900000"/>
            <a:ext cx="5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完成五层大数据推荐系统架构（数据→实时→离线→API→前端全链路）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实现冷启动→个性化三阶段平滑过渡（冷启/过渡/个性化）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✓  音视频跨模态统一推荐建模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DPP多样性重排+22字段WebSocket快照+3Tab大屏+暗色模式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✓  实时大屏全程可观测可演示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4人团队24天协作完成全链路，10000条离线推荐落地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✓  课程项目：验证大数据技术栈整合能力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150000"/>
            <a:ext cx="5500000" cy="54000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0000" y="13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0000" y="1900000"/>
            <a:ext cx="5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接入真实用户数据：替代模拟数据，验证真实场景效果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迁移至集群环境支持更大规模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深度学习模型：引入NCF/DeepFM等模型对比实验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增加 A/B 测试框架评估策略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优化前端交互与移动端适配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对接真实的音乐/视频平台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00000"/>
            <a:ext cx="10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00000"/>
            <a:ext cx="10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BBDD"/>
                </a:solidFill>
                <a:latin typeface="微软雅黑" panose="020B0503020204020204" charset="-122"/>
              </a:defRPr>
            </a:pPr>
            <a:r>
              <a:t>Thank You for Listening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0000" y="3600000"/>
            <a:ext cx="34000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00000"/>
            <a:ext cx="10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00000"/>
            <a:ext cx="10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欢迎提问，我们将尽力解答！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00000"/>
            <a:ext cx="10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CC"/>
                </a:solidFill>
                <a:latin typeface="微软雅黑" panose="020B0503020204020204" charset="-122"/>
              </a:defRPr>
            </a:pPr>
            <a:r>
              <a:t>NIIT @ GUET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2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3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4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5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6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7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8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9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0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1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2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3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4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5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6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7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8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9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20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2811</Words>
  <Application>WPS 演示</Application>
  <PresentationFormat>On-screen Show (4:3)</PresentationFormat>
  <Paragraphs>249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予</cp:lastModifiedBy>
  <cp:revision>4</cp:revision>
  <dcterms:created xsi:type="dcterms:W3CDTF">2013-01-27T09:14:00Z</dcterms:created>
  <dcterms:modified xsi:type="dcterms:W3CDTF">2026-06-19T12:40:30Z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6B7A241D058B4E3685D8E054D8EC8760_12</vt:lpwstr>
  </property>
  <property fmtid="{D5CDD505-2E9C-101B-9397-08002B2CF9AE}" pid="3" name="KSOProductBuildVer">
    <vt:lpwstr>2052-12.1.0.26895</vt:lpwstr>
  </property>
</Properties>
</file>